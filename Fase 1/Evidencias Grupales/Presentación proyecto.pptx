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FF Providence Sans" panose="020B0604020202020204" charset="0"/>
      <p:regular r:id="rId16"/>
    </p:embeddedFont>
    <p:embeddedFont>
      <p:font typeface="HK Grotesk" panose="020B0604020202020204" charset="0"/>
      <p:regular r:id="rId17"/>
    </p:embeddedFont>
    <p:embeddedFont>
      <p:font typeface="HK Grotesk Bold" panose="020B0604020202020204" charset="0"/>
      <p:regular r:id="rId18"/>
    </p:embeddedFont>
    <p:embeddedFont>
      <p:font typeface="HK Grotesk Bold Italics" panose="020B0604020202020204" charset="0"/>
      <p:regular r:id="rId19"/>
    </p:embeddedFont>
    <p:embeddedFont>
      <p:font typeface="HK Grotesk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53850" y="2704858"/>
            <a:ext cx="10843450" cy="3307252"/>
          </a:xfrm>
          <a:custGeom>
            <a:avLst/>
            <a:gdLst/>
            <a:ahLst/>
            <a:cxnLst/>
            <a:rect l="l" t="t" r="r" b="b"/>
            <a:pathLst>
              <a:path w="10843450" h="3307252">
                <a:moveTo>
                  <a:pt x="0" y="0"/>
                </a:moveTo>
                <a:lnTo>
                  <a:pt x="10843450" y="0"/>
                </a:lnTo>
                <a:lnTo>
                  <a:pt x="10843450" y="3307252"/>
                </a:lnTo>
                <a:lnTo>
                  <a:pt x="0" y="330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86569" y="5132489"/>
            <a:ext cx="11189026" cy="1230793"/>
          </a:xfrm>
          <a:custGeom>
            <a:avLst/>
            <a:gdLst/>
            <a:ahLst/>
            <a:cxnLst/>
            <a:rect l="l" t="t" r="r" b="b"/>
            <a:pathLst>
              <a:path w="11189026" h="1230793">
                <a:moveTo>
                  <a:pt x="0" y="0"/>
                </a:moveTo>
                <a:lnTo>
                  <a:pt x="11189027" y="0"/>
                </a:lnTo>
                <a:lnTo>
                  <a:pt x="11189027" y="1230793"/>
                </a:lnTo>
                <a:lnTo>
                  <a:pt x="0" y="1230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75274" y="2373781"/>
            <a:ext cx="7737453" cy="2978919"/>
          </a:xfrm>
          <a:custGeom>
            <a:avLst/>
            <a:gdLst/>
            <a:ahLst/>
            <a:cxnLst/>
            <a:rect l="l" t="t" r="r" b="b"/>
            <a:pathLst>
              <a:path w="7737453" h="2978919">
                <a:moveTo>
                  <a:pt x="0" y="0"/>
                </a:moveTo>
                <a:lnTo>
                  <a:pt x="7737452" y="0"/>
                </a:lnTo>
                <a:lnTo>
                  <a:pt x="7737452" y="2978919"/>
                </a:lnTo>
                <a:lnTo>
                  <a:pt x="0" y="2978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86400" y="6657673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52700" y="2807719"/>
            <a:ext cx="7737453" cy="2039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02"/>
              </a:lnSpc>
              <a:spcBef>
                <a:spcPct val="0"/>
              </a:spcBef>
            </a:pPr>
            <a:r>
              <a:rPr lang="en-US" sz="11358" dirty="0" err="1">
                <a:solidFill>
                  <a:srgbClr val="1A478A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RubricApp</a:t>
            </a:r>
            <a:endParaRPr lang="en-US" sz="11358" dirty="0">
              <a:solidFill>
                <a:srgbClr val="1A478A"/>
              </a:solidFill>
              <a:latin typeface="FF Providence Sans"/>
              <a:ea typeface="FF Providence Sans"/>
              <a:cs typeface="FF Providence Sans"/>
              <a:sym typeface="FF Providence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13153" y="7375477"/>
            <a:ext cx="5461695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Integrante: Aurora Mansilla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Asignatura: Capstone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0700" y="5067300"/>
            <a:ext cx="11906600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 i="1">
                <a:solidFill>
                  <a:srgbClr val="1A478A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Digitalización y automatización del proceso de evaluación mediante rúbricas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51827">
            <a:off x="11355002" y="6239823"/>
            <a:ext cx="1947392" cy="2762258"/>
          </a:xfrm>
          <a:custGeom>
            <a:avLst/>
            <a:gdLst/>
            <a:ahLst/>
            <a:cxnLst/>
            <a:rect l="l" t="t" r="r" b="b"/>
            <a:pathLst>
              <a:path w="1947392" h="2762258">
                <a:moveTo>
                  <a:pt x="0" y="0"/>
                </a:moveTo>
                <a:lnTo>
                  <a:pt x="1947392" y="0"/>
                </a:lnTo>
                <a:lnTo>
                  <a:pt x="1947392" y="2762259"/>
                </a:lnTo>
                <a:lnTo>
                  <a:pt x="0" y="2762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47240">
            <a:off x="15691807" y="498459"/>
            <a:ext cx="1942108" cy="1301212"/>
          </a:xfrm>
          <a:custGeom>
            <a:avLst/>
            <a:gdLst/>
            <a:ahLst/>
            <a:cxnLst/>
            <a:rect l="l" t="t" r="r" b="b"/>
            <a:pathLst>
              <a:path w="1942108" h="1301212">
                <a:moveTo>
                  <a:pt x="0" y="0"/>
                </a:moveTo>
                <a:lnTo>
                  <a:pt x="1942108" y="0"/>
                </a:lnTo>
                <a:lnTo>
                  <a:pt x="1942108" y="1301212"/>
                </a:lnTo>
                <a:lnTo>
                  <a:pt x="0" y="13012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3029" y="2121232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3"/>
                </a:lnTo>
                <a:lnTo>
                  <a:pt x="0" y="499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02883" y="422893"/>
            <a:ext cx="10724121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Cuál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es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problema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4771" y="2045032"/>
            <a:ext cx="14640347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Los docentes actualmente pueden gestionar rúbricas de manera manual mediante documentos o planillas, lo que puede dificultar la evaluación, el cálculo de resultados y la organización de la información.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44771" y="4430092"/>
            <a:ext cx="15438952" cy="572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La solución propuesta es </a:t>
            </a:r>
            <a:r>
              <a:rPr lang="en-US" sz="36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RubricApp</a:t>
            </a: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, una aplicación de escritorio para: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Crear curso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Registrar estudiantes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Crear rúbrica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Evaluar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Calcular resultados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Visualizar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Exportar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1A478A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603029" y="4506292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3"/>
                </a:lnTo>
                <a:lnTo>
                  <a:pt x="0" y="499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610117"/>
            <a:ext cx="13000470" cy="667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154" lvl="1" indent="-340077" algn="just">
              <a:lnSpc>
                <a:spcPts val="4410"/>
              </a:lnSpc>
              <a:spcBef>
                <a:spcPct val="0"/>
              </a:spcBef>
              <a:buFont typeface="Arial"/>
              <a:buChar char="•"/>
            </a:pPr>
            <a:r>
              <a:rPr lang="en-US" sz="315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Diseño y desarrollo de software</a:t>
            </a:r>
          </a:p>
          <a:p>
            <a:pPr algn="just">
              <a:lnSpc>
                <a:spcPts val="4410"/>
              </a:lnSpc>
              <a:spcBef>
                <a:spcPct val="0"/>
              </a:spcBef>
            </a:pPr>
            <a:r>
              <a:rPr lang="en-US" sz="315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Diseño y desarrollo de una solución informática, aplicando buenas prácticas y considerando su ciclo de vida.</a:t>
            </a:r>
          </a:p>
          <a:p>
            <a:pPr marL="680154" lvl="1" indent="-340077" algn="just">
              <a:lnSpc>
                <a:spcPts val="4410"/>
              </a:lnSpc>
              <a:spcBef>
                <a:spcPct val="0"/>
              </a:spcBef>
              <a:buFont typeface="Arial"/>
              <a:buChar char="•"/>
            </a:pPr>
            <a:r>
              <a:rPr lang="en-US" sz="315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Ingeniería de requisitos</a:t>
            </a:r>
          </a:p>
          <a:p>
            <a:pPr algn="just">
              <a:lnSpc>
                <a:spcPts val="4410"/>
              </a:lnSpc>
              <a:spcBef>
                <a:spcPct val="0"/>
              </a:spcBef>
            </a:pPr>
            <a:r>
              <a:rPr lang="en-US" sz="315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Identificación de las necesidades del docente y definición de requisitos funcionales y no funcionales para la aplicación.</a:t>
            </a:r>
          </a:p>
          <a:p>
            <a:pPr marL="680154" lvl="1" indent="-340077" algn="just">
              <a:lnSpc>
                <a:spcPts val="4410"/>
              </a:lnSpc>
              <a:spcBef>
                <a:spcPct val="0"/>
              </a:spcBef>
              <a:buFont typeface="Arial"/>
              <a:buChar char="•"/>
            </a:pPr>
            <a:r>
              <a:rPr lang="en-US" sz="315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Gestión de bases de datos</a:t>
            </a:r>
          </a:p>
          <a:p>
            <a:pPr algn="just">
              <a:lnSpc>
                <a:spcPts val="4410"/>
              </a:lnSpc>
              <a:spcBef>
                <a:spcPct val="0"/>
              </a:spcBef>
            </a:pPr>
            <a:r>
              <a:rPr lang="en-US" sz="315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Diseño de una estructura de datos para gestionar cursos, estudiantes, rúbricas, evaluaciones y resultados.</a:t>
            </a:r>
          </a:p>
          <a:p>
            <a:pPr marL="680154" lvl="1" indent="-340077" algn="just">
              <a:lnSpc>
                <a:spcPts val="4410"/>
              </a:lnSpc>
              <a:spcBef>
                <a:spcPct val="0"/>
              </a:spcBef>
              <a:buFont typeface="Arial"/>
              <a:buChar char="•"/>
            </a:pPr>
            <a:r>
              <a:rPr lang="en-US" sz="315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Gestión de proyectos informáticos</a:t>
            </a:r>
          </a:p>
          <a:p>
            <a:pPr algn="just">
              <a:lnSpc>
                <a:spcPts val="4410"/>
              </a:lnSpc>
              <a:spcBef>
                <a:spcPct val="0"/>
              </a:spcBef>
            </a:pPr>
            <a:r>
              <a:rPr lang="en-US" sz="315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 Planificación, organización y seguimiento del desarrollo mediante una metodología de trabajo y herramientas de gestión.</a:t>
            </a:r>
          </a:p>
        </p:txBody>
      </p:sp>
      <p:sp>
        <p:nvSpPr>
          <p:cNvPr id="5" name="Freeform 5"/>
          <p:cNvSpPr/>
          <p:nvPr/>
        </p:nvSpPr>
        <p:spPr>
          <a:xfrm>
            <a:off x="14577263" y="3758135"/>
            <a:ext cx="3141293" cy="3189130"/>
          </a:xfrm>
          <a:custGeom>
            <a:avLst/>
            <a:gdLst/>
            <a:ahLst/>
            <a:cxnLst/>
            <a:rect l="l" t="t" r="r" b="b"/>
            <a:pathLst>
              <a:path w="3141293" h="3189130">
                <a:moveTo>
                  <a:pt x="0" y="0"/>
                </a:moveTo>
                <a:lnTo>
                  <a:pt x="3141292" y="0"/>
                </a:lnTo>
                <a:lnTo>
                  <a:pt x="3141292" y="3189130"/>
                </a:lnTo>
                <a:lnTo>
                  <a:pt x="0" y="3189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62435" y="699252"/>
            <a:ext cx="13763129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Relación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con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perfil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egreso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05400" y="2211535"/>
            <a:ext cx="6447790" cy="7046765"/>
          </a:xfrm>
          <a:custGeom>
            <a:avLst/>
            <a:gdLst/>
            <a:ahLst/>
            <a:cxnLst/>
            <a:rect l="l" t="t" r="r" b="b"/>
            <a:pathLst>
              <a:path w="6447790" h="7046765">
                <a:moveTo>
                  <a:pt x="0" y="0"/>
                </a:moveTo>
                <a:lnTo>
                  <a:pt x="6447790" y="0"/>
                </a:lnTo>
                <a:lnTo>
                  <a:pt x="6447790" y="7046765"/>
                </a:lnTo>
                <a:lnTo>
                  <a:pt x="0" y="7046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0916" y="2135335"/>
            <a:ext cx="9302391" cy="764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Interés profesional: Diseño y desarrollo de software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Participar en el diseño y desarrollo de la aplicación, implementando sus funcionalidades.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1A478A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RubricApp representa una oportunidad para aplicar y fortalecer conocimientos de programación, diseño de aplicaciones y desarrollo de soluciones orientadas a usuarios reales.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432" y="422893"/>
            <a:ext cx="17115136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Relación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con mis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intereses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profesionales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84186" y="2211535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3"/>
                </a:lnTo>
                <a:lnTo>
                  <a:pt x="0" y="4995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4186" y="4134590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2"/>
                </a:lnTo>
                <a:lnTo>
                  <a:pt x="0" y="499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4186" y="6682746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2"/>
                </a:lnTo>
                <a:lnTo>
                  <a:pt x="0" y="499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98398" y="381322"/>
            <a:ext cx="2453341" cy="2355208"/>
          </a:xfrm>
          <a:custGeom>
            <a:avLst/>
            <a:gdLst/>
            <a:ahLst/>
            <a:cxnLst/>
            <a:rect l="l" t="t" r="r" b="b"/>
            <a:pathLst>
              <a:path w="2453341" h="2355208">
                <a:moveTo>
                  <a:pt x="0" y="0"/>
                </a:moveTo>
                <a:lnTo>
                  <a:pt x="2453342" y="0"/>
                </a:lnTo>
                <a:lnTo>
                  <a:pt x="2453342" y="2355208"/>
                </a:lnTo>
                <a:lnTo>
                  <a:pt x="0" y="235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6751" y="1175979"/>
            <a:ext cx="10274498" cy="119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Factibilidad de RubricApp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5353" y="3103276"/>
            <a:ext cx="18288000" cy="253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Se utilizarán tecnologías y herramientas disponibles para el desarrollo.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El proyecto corresponde a una aplicación de escritorio, sin requerir infraestructura compleja.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Las funcionalidades se pueden desarrollar de manera incremental.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5353" y="5753283"/>
            <a:ext cx="17747456" cy="253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El proyecto se dividirá en etapas y tareas pequeñas.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Permite aplicar conocimientos adquiridos durante la carrera.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Integra desarrollo de software, bases de datos, requisitos y pruebas.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El alcance es adecuado para ser desarrollado individualmente dentro de la asignatura.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64077" y="271112"/>
            <a:ext cx="4159845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Objetivos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2677" y="1482726"/>
            <a:ext cx="18085323" cy="828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 general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Desarrollar una aplicación de escritorio que permita a docentes gestionar cursos, estudiantes y rúbricas, automatizando el proceso de evaluación y cálculo de resultados de manera organizada y eficiente.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Objetivos específicos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Diseñar una interfaz gráfica intuitiva que facilite la gestión de las evaluaciones.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Implementar la creación y administración de cursos, estudiantes y rúbricas.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Desarrollar un sistema de evaluación que permita asignar niveles de logro y calcular resultados automáticamente.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Implementar el almacenamiento local de la información mediante una base de datos SQLite.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Incorporar la visualización y exportación de resultados para facilitar su utilización por parte del docente.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26403" y="6426518"/>
            <a:ext cx="3635193" cy="3308026"/>
          </a:xfrm>
          <a:custGeom>
            <a:avLst/>
            <a:gdLst/>
            <a:ahLst/>
            <a:cxnLst/>
            <a:rect l="l" t="t" r="r" b="b"/>
            <a:pathLst>
              <a:path w="3635193" h="3308026">
                <a:moveTo>
                  <a:pt x="0" y="0"/>
                </a:moveTo>
                <a:lnTo>
                  <a:pt x="3635194" y="0"/>
                </a:lnTo>
                <a:lnTo>
                  <a:pt x="3635194" y="3308025"/>
                </a:lnTo>
                <a:lnTo>
                  <a:pt x="0" y="3308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47711" y="4155758"/>
            <a:ext cx="13392578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Se utilizará Kanban para organizar y controlar de manera visual el desarrollo individual de RubricApp, permitiendo priorizar tareas, monitorear el avance y realizar ajustes durante el proyecto.</a:t>
            </a:r>
          </a:p>
        </p:txBody>
      </p:sp>
      <p:sp>
        <p:nvSpPr>
          <p:cNvPr id="6" name="Freeform 6"/>
          <p:cNvSpPr/>
          <p:nvPr/>
        </p:nvSpPr>
        <p:spPr>
          <a:xfrm>
            <a:off x="7178826" y="3494772"/>
            <a:ext cx="3782771" cy="283708"/>
          </a:xfrm>
          <a:custGeom>
            <a:avLst/>
            <a:gdLst/>
            <a:ahLst/>
            <a:cxnLst/>
            <a:rect l="l" t="t" r="r" b="b"/>
            <a:pathLst>
              <a:path w="3782771" h="283708">
                <a:moveTo>
                  <a:pt x="0" y="0"/>
                </a:moveTo>
                <a:lnTo>
                  <a:pt x="3782771" y="0"/>
                </a:lnTo>
                <a:lnTo>
                  <a:pt x="3782771" y="283708"/>
                </a:lnTo>
                <a:lnTo>
                  <a:pt x="0" y="2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96365" y="866265"/>
            <a:ext cx="10547692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Metodología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trabajo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84155" y="2363442"/>
            <a:ext cx="3649343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i="1" dirty="0">
                <a:solidFill>
                  <a:srgbClr val="1A478A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Kanban</a:t>
            </a:r>
          </a:p>
        </p:txBody>
      </p:sp>
      <p:sp>
        <p:nvSpPr>
          <p:cNvPr id="9" name="Freeform 9"/>
          <p:cNvSpPr/>
          <p:nvPr/>
        </p:nvSpPr>
        <p:spPr>
          <a:xfrm>
            <a:off x="2013074" y="4231958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7" y="0"/>
                </a:lnTo>
                <a:lnTo>
                  <a:pt x="434637" y="499582"/>
                </a:lnTo>
                <a:lnTo>
                  <a:pt x="0" y="499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8826" y="1384302"/>
            <a:ext cx="3782771" cy="283708"/>
          </a:xfrm>
          <a:custGeom>
            <a:avLst/>
            <a:gdLst/>
            <a:ahLst/>
            <a:cxnLst/>
            <a:rect l="l" t="t" r="r" b="b"/>
            <a:pathLst>
              <a:path w="3782771" h="283708">
                <a:moveTo>
                  <a:pt x="0" y="0"/>
                </a:moveTo>
                <a:lnTo>
                  <a:pt x="3782771" y="0"/>
                </a:lnTo>
                <a:lnTo>
                  <a:pt x="3782771" y="283708"/>
                </a:lnTo>
                <a:lnTo>
                  <a:pt x="0" y="2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196822" y="3243669"/>
            <a:ext cx="17894356" cy="6578017"/>
            <a:chOff x="0" y="0"/>
            <a:chExt cx="4712917" cy="17324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12917" cy="1732482"/>
            </a:xfrm>
            <a:custGeom>
              <a:avLst/>
              <a:gdLst/>
              <a:ahLst/>
              <a:cxnLst/>
              <a:rect l="l" t="t" r="r" b="b"/>
              <a:pathLst>
                <a:path w="4712917" h="1732482">
                  <a:moveTo>
                    <a:pt x="0" y="0"/>
                  </a:moveTo>
                  <a:lnTo>
                    <a:pt x="4712917" y="0"/>
                  </a:lnTo>
                  <a:lnTo>
                    <a:pt x="4712917" y="1732482"/>
                  </a:lnTo>
                  <a:lnTo>
                    <a:pt x="0" y="1732482"/>
                  </a:ln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32000"/>
                  </a:srgbClr>
                </a:gs>
                <a:gs pos="100000">
                  <a:srgbClr val="CB6CE6">
                    <a:alpha val="32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712917" cy="1770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1338" y="3409920"/>
            <a:ext cx="16685323" cy="6245516"/>
          </a:xfrm>
          <a:custGeom>
            <a:avLst/>
            <a:gdLst/>
            <a:ahLst/>
            <a:cxnLst/>
            <a:rect l="l" t="t" r="r" b="b"/>
            <a:pathLst>
              <a:path w="16685323" h="6245516">
                <a:moveTo>
                  <a:pt x="0" y="0"/>
                </a:moveTo>
                <a:lnTo>
                  <a:pt x="16685324" y="0"/>
                </a:lnTo>
                <a:lnTo>
                  <a:pt x="16685324" y="6245516"/>
                </a:lnTo>
                <a:lnTo>
                  <a:pt x="0" y="6245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38939" y="1691300"/>
            <a:ext cx="11010123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</a:t>
            </a:r>
            <a:r>
              <a:rPr lang="en-US" sz="2799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: Jira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Metodología</a:t>
            </a:r>
            <a:r>
              <a:rPr lang="en-US" sz="2799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: Kanban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Responsable</a:t>
            </a:r>
            <a:r>
              <a:rPr lang="en-US" sz="2799">
                <a:solidFill>
                  <a:srgbClr val="1A478A"/>
                </a:solidFill>
                <a:latin typeface="HK Grotesk"/>
                <a:ea typeface="HK Grotesk"/>
                <a:cs typeface="HK Grotesk"/>
                <a:sym typeface="HK Grotesk"/>
              </a:rPr>
              <a:t>: Aurora Mansilla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9002" y="239843"/>
            <a:ext cx="7089993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Plan de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trabajo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47711" y="1900287"/>
            <a:ext cx="13392578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i="1">
                <a:solidFill>
                  <a:srgbClr val="1A478A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Las evidencias permitirán demostrar el cumplimiento de las distintas etapas y objetivos de RubricApp.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7880" y="365124"/>
            <a:ext cx="9364663" cy="119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Evidencias del proyecto</a:t>
            </a:r>
          </a:p>
        </p:txBody>
      </p:sp>
      <p:sp>
        <p:nvSpPr>
          <p:cNvPr id="7" name="Freeform 7"/>
          <p:cNvSpPr/>
          <p:nvPr/>
        </p:nvSpPr>
        <p:spPr>
          <a:xfrm>
            <a:off x="2566139" y="1976487"/>
            <a:ext cx="434637" cy="499582"/>
          </a:xfrm>
          <a:custGeom>
            <a:avLst/>
            <a:gdLst/>
            <a:ahLst/>
            <a:cxnLst/>
            <a:rect l="l" t="t" r="r" b="b"/>
            <a:pathLst>
              <a:path w="434637" h="499582">
                <a:moveTo>
                  <a:pt x="0" y="0"/>
                </a:moveTo>
                <a:lnTo>
                  <a:pt x="434636" y="0"/>
                </a:lnTo>
                <a:lnTo>
                  <a:pt x="434636" y="499583"/>
                </a:lnTo>
                <a:lnTo>
                  <a:pt x="0" y="499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9B15C19-37A4-4498-45B4-2BDA5AFED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482" y="3237597"/>
            <a:ext cx="13079650" cy="6420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65643" y="6649296"/>
            <a:ext cx="3782771" cy="283708"/>
          </a:xfrm>
          <a:custGeom>
            <a:avLst/>
            <a:gdLst/>
            <a:ahLst/>
            <a:cxnLst/>
            <a:rect l="l" t="t" r="r" b="b"/>
            <a:pathLst>
              <a:path w="3782771" h="283708">
                <a:moveTo>
                  <a:pt x="0" y="0"/>
                </a:moveTo>
                <a:lnTo>
                  <a:pt x="3782771" y="0"/>
                </a:lnTo>
                <a:lnTo>
                  <a:pt x="3782771" y="283707"/>
                </a:lnTo>
                <a:lnTo>
                  <a:pt x="0" y="283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40427" y="2935060"/>
            <a:ext cx="6033202" cy="3725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Herramientas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 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trabajo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F3020B-3217-B93B-7FB0-12A94B9ED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0" y="796562"/>
            <a:ext cx="8907118" cy="8002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17607" y="1269350"/>
            <a:ext cx="3452786" cy="258959"/>
          </a:xfrm>
          <a:custGeom>
            <a:avLst/>
            <a:gdLst/>
            <a:ahLst/>
            <a:cxnLst/>
            <a:rect l="l" t="t" r="r" b="b"/>
            <a:pathLst>
              <a:path w="3452786" h="258959">
                <a:moveTo>
                  <a:pt x="0" y="0"/>
                </a:moveTo>
                <a:lnTo>
                  <a:pt x="3452786" y="0"/>
                </a:lnTo>
                <a:lnTo>
                  <a:pt x="3452786" y="258959"/>
                </a:lnTo>
                <a:lnTo>
                  <a:pt x="0" y="258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85049" y="57736"/>
            <a:ext cx="5917902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Matriz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RACI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A4C03E-6698-8E8D-256C-0D4EE5E29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280" y="1714500"/>
            <a:ext cx="13365440" cy="8011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17607" y="1269350"/>
            <a:ext cx="3452786" cy="258959"/>
          </a:xfrm>
          <a:custGeom>
            <a:avLst/>
            <a:gdLst/>
            <a:ahLst/>
            <a:cxnLst/>
            <a:rect l="l" t="t" r="r" b="b"/>
            <a:pathLst>
              <a:path w="3452786" h="258959">
                <a:moveTo>
                  <a:pt x="0" y="0"/>
                </a:moveTo>
                <a:lnTo>
                  <a:pt x="3452786" y="0"/>
                </a:lnTo>
                <a:lnTo>
                  <a:pt x="3452786" y="258959"/>
                </a:lnTo>
                <a:lnTo>
                  <a:pt x="0" y="258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88407" y="1868483"/>
            <a:ext cx="11311185" cy="8046722"/>
          </a:xfrm>
          <a:custGeom>
            <a:avLst/>
            <a:gdLst/>
            <a:ahLst/>
            <a:cxnLst/>
            <a:rect l="l" t="t" r="r" b="b"/>
            <a:pathLst>
              <a:path w="11311185" h="8046722">
                <a:moveTo>
                  <a:pt x="0" y="0"/>
                </a:moveTo>
                <a:lnTo>
                  <a:pt x="11311186" y="0"/>
                </a:lnTo>
                <a:lnTo>
                  <a:pt x="11311186" y="8046722"/>
                </a:lnTo>
                <a:lnTo>
                  <a:pt x="0" y="80467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2019" y="57736"/>
            <a:ext cx="16603960" cy="1211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Esquema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preliminar</a:t>
            </a:r>
            <a:r>
              <a:rPr lang="en-US" sz="6999" b="1" dirty="0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la base de </a:t>
            </a:r>
            <a:r>
              <a:rPr lang="en-US" sz="6999" b="1" dirty="0" err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datos</a:t>
            </a:r>
            <a:endParaRPr lang="en-US" sz="6999" b="1" dirty="0">
              <a:solidFill>
                <a:srgbClr val="1A478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90219"/>
            <a:ext cx="16515954" cy="96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Requisitos funcionales y no funcionales preliminares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451A2F-6345-A827-48E1-D15D0641D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932213"/>
            <a:ext cx="7020905" cy="73638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C1EC928-E5F6-7012-47F1-30DE89B08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464" y="1903633"/>
            <a:ext cx="6525536" cy="74210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BD8FF">
                <a:alpha val="100000"/>
              </a:srgbClr>
            </a:gs>
            <a:gs pos="100000">
              <a:srgbClr val="FAE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600" y="0"/>
            <a:ext cx="10705400" cy="10705400"/>
          </a:xfrm>
          <a:custGeom>
            <a:avLst/>
            <a:gdLst/>
            <a:ahLst/>
            <a:cxnLst/>
            <a:rect l="l" t="t" r="r" b="b"/>
            <a:pathLst>
              <a:path w="10705400" h="10705400">
                <a:moveTo>
                  <a:pt x="0" y="0"/>
                </a:moveTo>
                <a:lnTo>
                  <a:pt x="10705400" y="0"/>
                </a:lnTo>
                <a:lnTo>
                  <a:pt x="10705400" y="10705400"/>
                </a:lnTo>
                <a:lnTo>
                  <a:pt x="0" y="107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9906" y="1666750"/>
            <a:ext cx="14888188" cy="7983791"/>
          </a:xfrm>
          <a:custGeom>
            <a:avLst/>
            <a:gdLst/>
            <a:ahLst/>
            <a:cxnLst/>
            <a:rect l="l" t="t" r="r" b="b"/>
            <a:pathLst>
              <a:path w="14888188" h="7983791">
                <a:moveTo>
                  <a:pt x="0" y="0"/>
                </a:moveTo>
                <a:lnTo>
                  <a:pt x="14888188" y="0"/>
                </a:lnTo>
                <a:lnTo>
                  <a:pt x="14888188" y="7983790"/>
                </a:lnTo>
                <a:lnTo>
                  <a:pt x="0" y="7983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97552" y="490219"/>
            <a:ext cx="2978249" cy="96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1A478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Prototipo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501</Words>
  <Application>Microsoft Office PowerPoint</Application>
  <PresentationFormat>Personalizado</PresentationFormat>
  <Paragraphs>62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FF Providence Sans</vt:lpstr>
      <vt:lpstr>HK Grotesk Italics</vt:lpstr>
      <vt:lpstr>Arial</vt:lpstr>
      <vt:lpstr>HK Grotesk Bold</vt:lpstr>
      <vt:lpstr>Calibri</vt:lpstr>
      <vt:lpstr>HK Grotesk</vt:lpstr>
      <vt:lpstr>HK Grotesk Bold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Capstone</dc:title>
  <cp:lastModifiedBy>Aurora M</cp:lastModifiedBy>
  <cp:revision>3</cp:revision>
  <dcterms:created xsi:type="dcterms:W3CDTF">2006-08-16T00:00:00Z</dcterms:created>
  <dcterms:modified xsi:type="dcterms:W3CDTF">2026-08-30T00:34:13Z</dcterms:modified>
  <dc:identifier>DAHSg5Iw9tU</dc:identifier>
</cp:coreProperties>
</file>